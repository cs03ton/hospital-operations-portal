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เปิดด้วยภาพรวมโครงการ HOP ในฐานะระบบกลางของโรงพยาบาล เป้าหมายคือช่วยลดงานซ้ำ ลดเอกสาร และทำให้ผู้บริหารเห็นข้อมูลสำคัญได้รวดเร็วขึ้น โดย Phase 1 เน้นโมดูลที่พร้อมใช้งานจริงก่อน ได้แก่ Dashboard, User Management และ Leave Management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สไลด์นี้ควรสื่อสารแบบผู้บริหาร: HOP ไม่ใช่แค่ระบบลา แต่เป็น platform กลางของโรงพยาบาลที่เริ่มจากงานสำคัญและขยายต่อได้ จุดขายคือความเป็นศูนย์กลาง ความปลอดภัย และการติดตามงานได้ทันที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เล่าปัญหาในภาษางานจริง ไม่เน้นตำหนิระบบเดิม แต่ชี้ให้เห็นว่าขั้นตอนกระดาษและการประสานงานแบบ manual ทำให้เสียเวลาและตรวจสอบย้อนหลังได้ยาก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 workflow เดิมแบบ Before ให้เห็น friction หลัก คือการกรอกซ้ำ การรอเอกสาร และการติดตามสถานะที่ไม่ชัดเจน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เปรียบเทียบ After ให้เห็นความคล่องตัว: ระบบช่วยตรวจข้อมูลก่อนส่ง แจ้งเตือนถูกคน และเก็บหลักฐานทุกขั้นตอน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วิสัยทัศน์ควรผูกกับยุทธศาสตร์โรงพยาบาล ไม่ใช่แค่เรื่องเทคโนโลยี แต่คือการทำให้คนทำงานเร็วขึ้นและข้อมูลน่าเชื่อถือขึ้น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เน้นว่า objectives ถูกออกแบบให้วัดผลได้ ทั้งด้านความเร็ว ความปลอดภัย และข้อมูลสำหรับการตัดสินใจ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อธิบายขอบเขตให้ชัดเพื่อลดความคาดหวังเกิน Phase 1 และเปิดทางให้เห็น roadmap ต่อไป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สไลด์นี้พูดให้ผู้บริหารเข้าใจว่าโครงสร้างแยกส่วนทำให้ดูแลระบบง่าย ขยายระบบได้ และสามารถย้ายฐานข้อมูลออกเป็น server แยกในอนาคตโดยไม่กระทบ business logic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ไม่ต้องลงลึกเทคนิคมาก แต่ให้ความมั่นใจว่า stack นี้ทันสมัย มี community รองรับ และเหมาะกับการ deploy ภายในองค์กร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จุดสำคัญคือระบบไม่ได้พึ่งแค่การซ่อนเมนู แต่ backend ต้อง enforce สิทธิ์จริง เหมาะกับข้อมูลบุคลากรและเอกสารราชการ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 Role-Based Dashboard ที่ไม่แสดงข้อมูลเหมือนกันทุกคน แต่แสดงเฉพาะสิ่งที่ต้องใช้ตัดสินใจหรือทำงาน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อธิบายว่า User Management เป็นฐานของความปลอดภัยและข้อมูลบุคลากร ไม่ใช่แค่หน้าสร้าง user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นี่เป็นโมดูลหลักของ Phase 1 ให้พูดทั้งมุมเจ้าหน้าที่ หัวหน้า HR และผู้บริหาร โดยเน้น workflow ครบและตรวจสอบย้อนหลังได้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โมดูลนี้อยู่ใน roadmap ปีงบประมาณ 2570 ช่วยให้ผู้บริหารเห็นว่าระบบไม่ได้หยุดที่งานลา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เน้นการลดงานโทรประสานและลดการตกหล่นของใบแจ้งซ่อม โดยใช้ workflow คล้ายระบบลาแต่ปรับกับงานซ่อม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ใช้ภาษาผู้บริหาร เน้นข้อมูลพร้อมใช้ ไม่ใช่ข้อมูลดิบ และควรต่อยอดเป็น analytics ในอนาคต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สื่อสารให้ชัดว่าระบบไม่ spam ทุกคน แต่แจ้งเฉพาะผู้เกี่ยวข้อง ทำให้การแจ้งเตือนมีคุณค่าและลดความรำคาญ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flow ช่วยให้ผู้บริหารมั่นใจว่าข้อมูลไม่ได้วิ่งกระจัดกระจาย และทุกจุดสำคัญมีการตรวจสอบสิทธิ์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ไม่ต้องแสดง ERD ซับซ้อน ให้แสดงกลุ่มข้อมูลหลักและเหตุผลว่าทำไมต้องแยกข้อมูลเป็นหมวด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ย้ำว่า roadmap แบ่งเป็นช่วงเพื่อลดความเสี่ยงในการเปลี่ยนผ่าน ไม่ทำทุกอย่างพร้อมกันเกินไป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แนะนำให้เริ่ม pilot ในวงจำกัด เช่น IT หรือหน่วยงานที่พร้อม เพื่อทดสอบ workflow, permission, LINE และเอกสาร PDF ก่อน rollout ใหญ่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เสนอ KPI ที่วัดได้จริงและเชื่อมกับประโยชน์เชิงบริหาร ไม่เน้นตัวเลขเกินจริง แต่ตั้งกรอบให้ติดตามต่อได้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พูดแบบ stakeholder-by-stakeholder เพื่อให้ผู้ฟังเห็นว่าแต่ละกลุ่มได้ประโยชน์ต่างกันอย่างไร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แสดงให้เห็นว่าโครงการเตรียมรับมือความเสี่ยงไว้แล้ว ไม่ใช่เสนอเฉพาะด้านดี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ROI ในบริบทโรงพยาบาลราชการควรพูดถึงคุณค่าด้านเวลา คุณภาพข้อมูล และความโปร่งใสมากกว่าผลตอบแทนทางการเงินล้วน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วางภาพอนาคตแบบมีทิศทาง แต่ไม่ทำให้ดูไกลเกินจริง HOP คือฐานที่รองรับการต่อยอดเหล่านี้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สรุปให้ผู้บริหารเห็น decision point: เห็นชอบให้ดำเนินการ pilot และสนับสนุนการขยายผลหลังทดสอบสำเร็จ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ใช้สไลด์นี้เปิดพื้นที่สนทนา อาจเตรียมคำตอบเรื่อง security, backup, LINE, และการเริ่ม pilot ไว้ล่วงหน้า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ปิดด้วยน้ำเสียงอบอุ่นและมั่นใจ พร้อมเชิญผู้บริหารให้เสนอแนวทางการสนับสนุน pilot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P Executive 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4709160" cy="68580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6" name="Image 0" descr="D:\HOSPITAL\Hospital-Projects\Hospital-Operations-Portal\docs\presentation\assets\logo\hop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566928"/>
            <a:ext cx="2468880" cy="8961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187452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(HOP)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658368" y="254203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CFBF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ระบบศูนย์กลางสำหรับบริหารงานภายในโรงพยาบาลนาหมื่น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22960" y="3794760"/>
            <a:ext cx="33375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ยกระดับงานบริหารภายในจากเอกสารกระดาษสู่ระบบดิจิทัลที่ติดตามได้แบบ Real-time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รองรับ Dashboard, User Management และ Leave Management ใน Phase 1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ออกแบบต่อยอดสู่ Digital Hospital อย่างเป็นระบบ</a:t>
            </a:r>
            <a:endParaRPr lang="en-US" sz="1600" dirty="0"/>
          </a:p>
        </p:txBody>
      </p:sp>
      <p:pic>
        <p:nvPicPr>
          <p:cNvPr id="10" name="Image 1" descr="D:\HOSPITAL\Hospital-Projects\Hospital-Operations-Portal\docs\presentation\assets\illustrations\hospital-portal-illustration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57800" y="1143000"/>
            <a:ext cx="6126480" cy="35204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40680" y="5074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Executive Presentation | Phase 1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5440680" y="5440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Modern Hospital Operations • Digital Workflow • Real-time Tracking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01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HOP คือฐานรากดิจิทัลสำหรับงานปฏิบัติการโรงพยาบาล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summar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49808" y="1664208"/>
            <a:ext cx="24231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14400" y="1810512"/>
            <a:ext cx="2093976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14400" y="201168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Phase 1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914400" y="245059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Dashboard • User • Leave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429000" y="1664208"/>
            <a:ext cx="24231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593592" y="1810512"/>
            <a:ext cx="2093976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593592" y="201168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Real-time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3593592" y="245059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ติดตามสถานะได้ทันที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108192" y="1664208"/>
            <a:ext cx="24231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72784" y="1810512"/>
            <a:ext cx="2093976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272784" y="201168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Secure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6272784" y="245059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Role &amp; Permission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8787384" y="1664208"/>
            <a:ext cx="24231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951976" y="1810512"/>
            <a:ext cx="2093976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951976" y="201168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LINE OA</a:t>
            </a:r>
            <a:endParaRPr lang="en-US" sz="2400" dirty="0"/>
          </a:p>
        </p:txBody>
      </p:sp>
      <p:sp>
        <p:nvSpPr>
          <p:cNvPr id="27" name="Text 23"/>
          <p:cNvSpPr/>
          <p:nvPr/>
        </p:nvSpPr>
        <p:spPr>
          <a:xfrm>
            <a:off x="8951976" y="245059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แจ้งเตือนเฉพาะผู้เกี่ยวข้อง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914400" y="3337560"/>
            <a:ext cx="9966960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รวมข้อมูลและขั้นตอนงานไว้ในระบบเดียว ลดการกระจายของข้อมูล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กำหนดสิทธิ์ตามบทบาท ลดความเสี่ยงด้านข้อมูลบุคลากร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แจ้งเตือนผ่าน LINE OA เพื่อเร่งการอนุมัติและติดตามงาน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รองรับการขยายโมดูลในปีงบประมาณ 2570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Current Pain Points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ปัญหาที่พบในงานบริหารภายในรูปแบบเดิม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warning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49808" y="1627632"/>
            <a:ext cx="49834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49808" y="1627632"/>
            <a:ext cx="4983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50976" y="1828800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Pain Point 1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950976" y="2194560"/>
            <a:ext cx="4581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เอกสารกระดาษกระจายหลายจุด ทำให้ค้นหาและติดตามสถานะล่าช้า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144768" y="1627632"/>
            <a:ext cx="49834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44768" y="1627632"/>
            <a:ext cx="49834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45936" y="1828800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Pain Point 2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345936" y="2194560"/>
            <a:ext cx="4581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การอนุมัติอาศัยการส่งต่อด้วยคน มีโอกาสตกหล่นหรือค้างนาน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749808" y="3136392"/>
            <a:ext cx="49834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49808" y="3136392"/>
            <a:ext cx="498348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50976" y="3337560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Pain Point 3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950976" y="3703320"/>
            <a:ext cx="4581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ผู้บริหารมองภาพรวมทรัพยากรและงานค้างได้ไม่ทันเวลา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144768" y="3136392"/>
            <a:ext cx="49834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44768" y="3136392"/>
            <a:ext cx="498348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345936" y="3337560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Pain Point 4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6345936" y="3703320"/>
            <a:ext cx="4581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สิทธิ์การเข้าถึงข้อมูลยังควบคุมยากเมื่อทำงานหลายหน่วยงาน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Current Workflow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กระบวนการเดิมมีหลายจุดส่งต่อและตรวจสอบย้อนหลังยาก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work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04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22960" y="214884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60120" y="233172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แบบฟอร์มกระดาษ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2871216" y="2395728"/>
            <a:ext cx="402336" cy="402336"/>
          </a:xfrm>
          <a:prstGeom prst="chevron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DDE7E5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566160" y="214884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703320" y="233172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ส่งต่อด้วยคน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614416" y="2395728"/>
            <a:ext cx="402336" cy="402336"/>
          </a:xfrm>
          <a:prstGeom prst="chevron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DDE7E5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09360" y="214884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46520" y="233172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บันทึกซ้ำ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8357616" y="2395728"/>
            <a:ext cx="402336" cy="402336"/>
          </a:xfrm>
          <a:prstGeom prst="chevron">
            <a:avLst/>
          </a:prstGeom>
          <a:solidFill>
            <a:srgbClr val="EF4444">
              <a:alpha val="92000"/>
            </a:srgbClr>
          </a:solidFill>
          <a:ln w="12700">
            <a:solidFill>
              <a:srgbClr val="DDE7E5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052560" y="214884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189720" y="233172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รวบรวมรายงาน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1005840" y="3794760"/>
            <a:ext cx="950976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เจ้าหน้าที่กรอกแบบฟอร์มกระดาษ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ส่งต่อหัวหน้าหรือผู้อนุมัติทีละขั้น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HR ตรวจสอบและบันทึกข้อมูลซ้ำ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ผู้บริหารต้องรวบรวมข้อมูลจากหลายแหล่ง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Future Workflow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ขั้นตอนใหม่เชื่อมต่อผ่านระบบกลางและแจ้งเตือนอัตโนมัติ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work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05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22960" y="214884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60120" y="233172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ส่งผ่านระบบ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2871216" y="2395728"/>
            <a:ext cx="402336" cy="402336"/>
          </a:xfrm>
          <a:prstGeom prst="chevron">
            <a:avLst/>
          </a:prstGeom>
          <a:solidFill>
            <a:srgbClr val="0F766E">
              <a:alpha val="92000"/>
            </a:srgbClr>
          </a:solidFill>
          <a:ln w="12700">
            <a:solidFill>
              <a:srgbClr val="DDE7E5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566160" y="214884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703320" y="233172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ตรวจสิทธิ์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614416" y="2395728"/>
            <a:ext cx="402336" cy="402336"/>
          </a:xfrm>
          <a:prstGeom prst="chevron">
            <a:avLst/>
          </a:prstGeom>
          <a:solidFill>
            <a:srgbClr val="14B8A6">
              <a:alpha val="92000"/>
            </a:srgbClr>
          </a:solidFill>
          <a:ln w="12700">
            <a:solidFill>
              <a:srgbClr val="DDE7E5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09360" y="214884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46520" y="233172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แจ้งเตือน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8357616" y="2395728"/>
            <a:ext cx="402336" cy="402336"/>
          </a:xfrm>
          <a:prstGeom prst="chevron">
            <a:avLst/>
          </a:prstGeom>
          <a:solidFill>
            <a:srgbClr val="22C55E">
              <a:alpha val="92000"/>
            </a:srgbClr>
          </a:solidFill>
          <a:ln w="12700">
            <a:solidFill>
              <a:srgbClr val="DDE7E5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052560" y="214884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189720" y="233172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1005840" y="3794760"/>
            <a:ext cx="950976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เจ้าหน้าที่ส่งคำขอผ่านระบบ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ระบบตรวจสิทธิ์ วันลาคงเหลือ และสายอนุมัติ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ผู้อนุมัติได้รับแจ้งเตือนเฉพาะเมื่อถึงคิว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ข้อมูลสรุปและ audit log พร้อมตรวจสอบทันที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Vision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ศูนย์กลางงานปฏิบัติการที่พร้อมต่อยอดสู่ Digital Hospital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visi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06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143000" y="1737360"/>
            <a:ext cx="9921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600200" y="21945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“ระบบกลางที่ทำให้งานบริหารภายในโปร่งใส รวดเร็ว และพร้อมต่อยอดสู่ Digital Hospital”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554480" y="4251960"/>
            <a:ext cx="900684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ลดภาระงานเอกสารและการบันทึกซ้ำ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เพิ่มความโปร่งใสของกระบวนการอนุมัติและการติดตามงาน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สร้างฐานข้อมูลกลางเพื่อรองรับการวิเคราะห์และรายงานผู้บริหาร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Project Objectives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วัตถุประสงค์เชิงบริหารและเชิงปฏิบัติการ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targe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07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77240" y="1627632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1627632"/>
            <a:ext cx="489204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78408" y="1828800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เป้าหมาย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978408" y="2194560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จัดทำระบบกลางสำหรับงานภายในโรงพยาบาล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126480" y="1627632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627632"/>
            <a:ext cx="48920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27648" y="1828800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ขอบเขต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327648" y="2194560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กำหนดสิทธิ์การใช้งานตามบทบาทและหน้าที่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777240" y="3044952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77240" y="3044952"/>
            <a:ext cx="48920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78408" y="3246120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ความสามารถ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978408" y="3611880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ลดระยะเวลาการอนุมัติและเพิ่มการแจ้งเตือนอัตโนมัติ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126480" y="3044952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26480" y="3044952"/>
            <a:ext cx="4892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327648" y="3246120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การต่อยอด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6327648" y="3611880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เตรียมข้อมูลสำหรับ Dashboard และรายงานผู้บริหาร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Project Scope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Phase 1 เริ่มจากโมดูลที่กระทบงานประจำและพร้อมใช้งานจริง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scop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08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77240" y="1627632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1627632"/>
            <a:ext cx="489204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78408" y="1828800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เป้าหมาย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978408" y="2194560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Dashboard: ภาพรวมงานและสถานะที่สำคัญ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126480" y="1627632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627632"/>
            <a:ext cx="48920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27648" y="1828800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ขอบเขต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327648" y="2194560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User Management: ผู้ใช้งาน บทบาท สิทธิ์ และหน่วยงาน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777240" y="3044952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77240" y="3044952"/>
            <a:ext cx="48920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78408" y="3246120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ความสามารถ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978408" y="3611880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Leave Management: คำขอลา สายอนุมัติ วันลาคงเหลือ และ PDF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126480" y="3044952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26480" y="3044952"/>
            <a:ext cx="4892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327648" y="3246120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การต่อยอด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6327648" y="3611880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Notification: แจ้งเตือนผ่านระบบและ LINE OA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สถาปัตยกรรมแยก Frontend, Backend และ Database พร้อม deploy ด้วย Docker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server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09</a:t>
            </a:r>
            <a:endParaRPr lang="en-US" sz="1400" dirty="0"/>
          </a:p>
        </p:txBody>
      </p:sp>
      <p:pic>
        <p:nvPicPr>
          <p:cNvPr id="12" name="Image 1" descr="D:\HOSPITAL\Hospital-Projects\Hospital-Operations-Portal\docs\presentation\assets\diagrams\architecture-overview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1554480"/>
            <a:ext cx="6766560" cy="31546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01000" y="1783080"/>
            <a:ext cx="310896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Frontend: React + TypeScript + Vite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Backend API: ASP.NET Core Web API / .NET 9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Database: PostgreSQL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Deployment: Ubuntu Server + Docker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เลือกเทคโนโลยีมาตรฐาน เปิดกว้าง และพร้อมดูแลระยะยาว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tech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10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22960" y="1719072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CCFBF1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69264" y="1883664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React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3611880" y="1719072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758184" y="1883664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.NET 9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400800" y="1719072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CCFBF1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47104" y="1883664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9189720" y="1719072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336024" y="1883664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Ubuntu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822960" y="2798064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CCFBF1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69264" y="2962656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Docker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3611880" y="2798064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758184" y="2962656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JWT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6400800" y="2798064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CCFBF1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547104" y="2962656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Role Permission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9189720" y="2798064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336024" y="2962656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LINE OA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960120" y="4114800"/>
            <a:ext cx="987552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React + TypeScript สำหรับหน้าจอใช้งานที่เร็วและ responsive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.NET 9 Web API สำหรับ backend ที่เสถียรและเหมาะกับงานองค์กร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PostgreSQL สำหรับฐานข้อมูลเชิงสัมพันธ์ที่มีความน่าเชื่อถือ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JWT + Refresh Token และ Role Permission สำหรับความปลอดภัย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LINE Official Account สำหรับการแจ้งเตือนที่ผู้ใช้งานคุ้นเคย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Security &amp; Access Control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ควบคุมข้อมูลตามบทบาท ตรวจสอบย้อนหลังได้ทุก action สำคัญ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shiel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11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22960" y="1572768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22960" y="1572768"/>
            <a:ext cx="338328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24128" y="1773936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Access Control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024128" y="2139696"/>
            <a:ext cx="298094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JWT + Refresh Token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Role &amp; Permission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Backend Enforcement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407408" y="1572768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407408" y="1572768"/>
            <a:ext cx="338328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08576" y="1773936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Governance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608576" y="2139696"/>
            <a:ext cx="298094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Audit Log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Permission Denied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Approval History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7991856" y="1572768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991856" y="1572768"/>
            <a:ext cx="338328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193024" y="1773936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Privacy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193024" y="2139696"/>
            <a:ext cx="298094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เห็นข้อมูลตามสิทธิ์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แจ้งเตือนเฉพาะผู้เกี่ยวข้อง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ไม่เปิดเผย token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Dashboard Module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หน้าแรกที่สรุปสถานะงานตามบทบาทของผู้ใช้งาน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dashbo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12</a:t>
            </a:r>
            <a:endParaRPr lang="en-US" sz="1400" dirty="0"/>
          </a:p>
        </p:txBody>
      </p:sp>
      <p:pic>
        <p:nvPicPr>
          <p:cNvPr id="12" name="Image 1" descr="D:\HOSPITAL\Hospital-Projects\Hospital-Operations-Portal\docs\presentation\assets\mockups\dashboard-mockup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9808" y="1481328"/>
            <a:ext cx="6080760" cy="35295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78040" y="1691640"/>
            <a:ext cx="379476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ผู้ใช้งานเห็นคำขอลาของตนเองและสถานะล่าสุด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หัวหน้างานเห็นงานรออนุมัติและข้อมูลทีม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ผู้บริหารเห็นภาพรวมแนวโน้มและ KPI สำคัญ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User Management Module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จัดการผู้ใช้งาน หน่วยงาน บทบาท และสิทธิ์อย่างเป็นระบบ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user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13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77240" y="1627632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1627632"/>
            <a:ext cx="489204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78408" y="1828800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เป้าหมาย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978408" y="2194560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เพิ่ม แก้ไข และปิดการใช้งานบัญชีผู้ใช้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126480" y="1627632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627632"/>
            <a:ext cx="48920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27648" y="1828800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ขอบเขต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327648" y="2194560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กำหนดหน่วยงาน บทบาท และ permission ที่ละเอียด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777240" y="3044952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77240" y="3044952"/>
            <a:ext cx="48920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78408" y="3246120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ความสามารถ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978408" y="3611880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รองรับข้อมูลส่วนตัวสำหรับใช้ในใบลาและเอกสาร PDF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126480" y="3044952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26480" y="3044952"/>
            <a:ext cx="4892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327648" y="3246120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การต่อยอด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6327648" y="3611880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เชื่อมบัญชี LINE เพื่อรับแจ้งเตือนรายบุคคล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Leave Management Module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ระบบลาครบวงจร ตั้งแต่สร้างคำขอถึงออกเอกสาร PDF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leav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14</a:t>
            </a:r>
            <a:endParaRPr lang="en-US" sz="1400" dirty="0"/>
          </a:p>
        </p:txBody>
      </p:sp>
      <p:pic>
        <p:nvPicPr>
          <p:cNvPr id="12" name="Image 1" descr="D:\HOSPITAL\Hospital-Projects\Hospital-Operations-Portal\docs\presentation\assets\mockups\leave-mockup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9808" y="1481328"/>
            <a:ext cx="6080760" cy="35295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78040" y="1691640"/>
            <a:ext cx="379476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สร้างและส่งคำขอลา พร้อมแนบเอกสาร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ตรวจสิทธิ์ตามประเภทบุคลากร เพศ ปีงบประมาณ และวันลาคงเหลือ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อนุมัติหลายขั้น พร้อม timeline และ audit trail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 PDF ใบลาภาษาไทยตามแบบฟอร์มโรงพยาบาล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Inventory Module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แผนต่อยอดสำหรับติดตามครุภัณฑ์และวัสดุภายในโรงพยาบาล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inventor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15</a:t>
            </a:r>
            <a:endParaRPr lang="en-US" sz="1400" dirty="0"/>
          </a:p>
        </p:txBody>
      </p:sp>
      <p:pic>
        <p:nvPicPr>
          <p:cNvPr id="12" name="Image 1" descr="D:\HOSPITAL\Hospital-Projects\Hospital-Operations-Portal\docs\presentation\assets\mockups\inventory-mockup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9808" y="1481328"/>
            <a:ext cx="6080760" cy="35295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78040" y="1691640"/>
            <a:ext cx="379476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ทะเบียนวัสดุและครุภัณฑ์กลาง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สถานะคงเหลือ การเบิกจ่าย และประวัติการใช้งาน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รายงานสรุปเพื่อช่วยวางแผนจัดซื้อและบริหารทรัพยากร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Repair Request Module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ระบบแจ้งซ่อมที่ติดตามสถานะและผู้รับผิดชอบได้ชัดเจน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repair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16</a:t>
            </a:r>
            <a:endParaRPr lang="en-US" sz="1400" dirty="0"/>
          </a:p>
        </p:txBody>
      </p:sp>
      <p:pic>
        <p:nvPicPr>
          <p:cNvPr id="12" name="Image 1" descr="D:\HOSPITAL\Hospital-Projects\Hospital-Operations-Portal\docs\presentation\assets\mockups\repair-mockup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9808" y="1481328"/>
            <a:ext cx="6080760" cy="35295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78040" y="1691640"/>
            <a:ext cx="379476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เจ้าหน้าที่แจ้งซ่อมพร้อมรูปภาพและรายละเอียดปัญหา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กำหนดผู้รับผิดชอบและติดตาม SLA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Dashboard งานค้าง งานเสร็จ และประวัติการซ่อม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Executive Report Module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รายงานเชิงบริหารสำหรับการตัดสินใจและติดตามผล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repor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17</a:t>
            </a:r>
            <a:endParaRPr lang="en-US" sz="1400" dirty="0"/>
          </a:p>
        </p:txBody>
      </p:sp>
      <p:pic>
        <p:nvPicPr>
          <p:cNvPr id="12" name="Image 1" descr="D:\HOSPITAL\Hospital-Projects\Hospital-Operations-Portal\docs\presentation\assets\mockups\executive-dashboard-mockup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9808" y="1481328"/>
            <a:ext cx="6080760" cy="35295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78040" y="1691640"/>
            <a:ext cx="379476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สรุปภาพรวมบุคลากร การลา งานอนุมัติ และทรัพยากร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เปรียบเทียบรายเดือน รายหน่วยงาน และแนวโน้มสำคัญ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รองรับ export เพื่อใช้ประกอบการประชุม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LINE Notification Integration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แจ้งเตือนถูกคน ถูกเวลา ลดงานค้างและการติดตามด้วยมือ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bell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18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68680" y="1572768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68680" y="1572768"/>
            <a:ext cx="329184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69848" y="1773936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In-app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069848" y="2139696"/>
            <a:ext cx="2889504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Badge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Notification Center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Action Required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434840" y="1572768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434840" y="1572768"/>
            <a:ext cx="32918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36008" y="1773936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LINE OA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636008" y="2139696"/>
            <a:ext cx="2889504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Flex Message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Secure action URL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Delivery logs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8001000" y="1572768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001000" y="1572768"/>
            <a:ext cx="32918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202168" y="1773936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Policy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202168" y="2139696"/>
            <a:ext cx="2889504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แจ้งเฉพาะผู้เกี่ยวข้อง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ไม่แจ้งล่วงหน้า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ตรวจสอบย้อนหลังได้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Data Flow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ข้อมูลไหลผ่านระบบอย่างเป็นขั้นตอนและตรวจสอบย้อนหลังได้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19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22960" y="214884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60120" y="233172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2871216" y="2395728"/>
            <a:ext cx="402336" cy="402336"/>
          </a:xfrm>
          <a:prstGeom prst="chevron">
            <a:avLst/>
          </a:prstGeom>
          <a:solidFill>
            <a:srgbClr val="14B8A6">
              <a:alpha val="92000"/>
            </a:srgbClr>
          </a:solidFill>
          <a:ln w="12700">
            <a:solidFill>
              <a:srgbClr val="DDE7E5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566160" y="214884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703320" y="233172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Backend API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614416" y="2395728"/>
            <a:ext cx="402336" cy="402336"/>
          </a:xfrm>
          <a:prstGeom prst="chevron">
            <a:avLst/>
          </a:prstGeom>
          <a:solidFill>
            <a:srgbClr val="0F766E">
              <a:alpha val="92000"/>
            </a:srgbClr>
          </a:solidFill>
          <a:ln w="12700">
            <a:solidFill>
              <a:srgbClr val="DDE7E5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09360" y="214884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46520" y="233172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8357616" y="2395728"/>
            <a:ext cx="402336" cy="402336"/>
          </a:xfrm>
          <a:prstGeom prst="chevron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DDE7E5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052560" y="214884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189720" y="233172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Notification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960120" y="3794760"/>
            <a:ext cx="987552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ผู้ใช้งานทำรายการผ่าน Frontend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Backend ตรวจสิทธิ์และ business rules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Database เก็บข้อมูลธุรกรรมและ audit log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Notification service แจ้งเตือนผ่านระบบและ LINE OA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Database Overview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ฐานข้อมูลออกแบบรองรับข้อมูลบุคลากร งานลา และ audit ระยะยาว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databas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20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77240" y="1627632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1627632"/>
            <a:ext cx="489204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78408" y="1828800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Core Identity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978408" y="2194560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Users, Roles, Permissions และ Departments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126480" y="1627632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627632"/>
            <a:ext cx="48920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27648" y="1828800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Leave Domain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327648" y="2194560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Leave Requests, Approval Steps, Leave Balances และ Holidays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777240" y="3044952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77240" y="3044952"/>
            <a:ext cx="48920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78408" y="3246120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Notification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978408" y="3611880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Notifications, LINE Delivery Logs และ Audit Logs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126480" y="3044952"/>
            <a:ext cx="4892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26480" y="3044952"/>
            <a:ext cx="4892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327648" y="3246120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Operations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6327648" y="3611880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รองรับการ backup/restore ด้วย PostgreSQL tools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Roadmap 2569–2570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เริ่มใช้งานจากแกนหลัก แล้วขยายโมดูลตามความพร้อมของหน่วยงาน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roadma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21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051560" y="2926080"/>
            <a:ext cx="9966960" cy="0"/>
          </a:xfrm>
          <a:prstGeom prst="line">
            <a:avLst/>
          </a:prstGeom>
          <a:noFill/>
          <a:ln w="63500">
            <a:solidFill>
              <a:srgbClr val="14B8A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60120" y="2679192"/>
            <a:ext cx="493776" cy="493776"/>
          </a:xfrm>
          <a:prstGeom prst="ellipse">
            <a:avLst/>
          </a:prstGeom>
          <a:solidFill>
            <a:srgbClr val="0F76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" y="199339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2569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01752" y="34015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Dashboard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User Management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Leave Management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749040" y="2679192"/>
            <a:ext cx="493776" cy="493776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337560" y="199339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 ต.ค. 2569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3090672" y="34015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เริ่มปีงบประมาณ 2570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537960" y="2679192"/>
            <a:ext cx="493776" cy="493776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26480" y="199339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2570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5879592" y="34015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Inventory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Repair Request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Executive Report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9326880" y="2679192"/>
            <a:ext cx="493776" cy="493776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915400" y="199339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ต่อยอด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8668512" y="34015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Mobile Responsive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LINE Integration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Implementation Plan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แผนดำเนินงานเป็นระยะเพื่อลดความเสี่ยงและสร้าง adoption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pla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22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49808" y="187452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49808" y="1874520"/>
            <a:ext cx="187452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50976" y="2075688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1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950976" y="2441448"/>
            <a:ext cx="147218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เตรียมระบบและข้อมูลเริ่มต้น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2990088" y="187452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990088" y="1874520"/>
            <a:ext cx="187452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191256" y="2075688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2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3191256" y="2441448"/>
            <a:ext cx="147218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Pilot กับ 1 หน่วยงาน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230368" y="187452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230368" y="1874520"/>
            <a:ext cx="187452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31536" y="2075688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3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5431536" y="2441448"/>
            <a:ext cx="147218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เก็บ feedback และปรับปรุง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7470648" y="187452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470648" y="1874520"/>
            <a:ext cx="1874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671816" y="2075688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4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7671816" y="2441448"/>
            <a:ext cx="147218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ขยายใช้งานทั้งโรงพยาบาล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9710928" y="187452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9710928" y="1874520"/>
            <a:ext cx="187452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9912096" y="2075688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5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9912096" y="2441448"/>
            <a:ext cx="147218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วางแผนโมดูล Phase 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Success KPI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ตัวชี้วัดเพื่อประเมินผลหลังเริ่มใช้งาน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kpi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23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22960" y="1645920"/>
            <a:ext cx="24231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87552" y="1792224"/>
            <a:ext cx="2093976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7552" y="1993392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-40%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987552" y="2432304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เวลาอนุมัติเฉลี่ย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520440" y="1645920"/>
            <a:ext cx="24231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85032" y="1792224"/>
            <a:ext cx="2093976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685032" y="1993392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-60%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3685032" y="2432304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เอกสารกระดาษ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217920" y="1645920"/>
            <a:ext cx="24231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82512" y="1792224"/>
            <a:ext cx="2093976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382512" y="1993392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95%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6382512" y="2432304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ติดตามผ่านระบบ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8915400" y="1645920"/>
            <a:ext cx="24231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079992" y="1792224"/>
            <a:ext cx="2093976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079992" y="1993392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100%</a:t>
            </a:r>
            <a:endParaRPr lang="en-US" sz="2400" dirty="0"/>
          </a:p>
        </p:txBody>
      </p:sp>
      <p:sp>
        <p:nvSpPr>
          <p:cNvPr id="27" name="Text 23"/>
          <p:cNvSpPr/>
          <p:nvPr/>
        </p:nvSpPr>
        <p:spPr>
          <a:xfrm>
            <a:off x="9079992" y="2432304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Audit สำคัญ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914400" y="3246120"/>
            <a:ext cx="996696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ลดเวลาเฉลี่ยการอนุมัติคำขอลา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ลดจำนวนเอกสารกระดาษในกระบวนการลา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เพิ่มสัดส่วนคำขอที่ติดตามสถานะผ่านระบบ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ลดจำนวนรายการที่ต้องสอบถามสถานะด้วยโทรศัพท์หรือ LINE ส่วนตัว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Expected Benefits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ผลลัพธ์ที่คาดหวังต่อเจ้าหน้าที่ หัวหน้างาน HR และผู้บริหาร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benefi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24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14400" y="1783080"/>
            <a:ext cx="1005840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เจ้าหน้าที่: ขอลาและติดตามสถานะได้สะดวก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หัวหน้างาน: เห็นงานรออนุมัติและตัดสินใจเร็วขึ้น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HR/Admin: ลดการบันทึกซ้ำและตรวจสอบข้อมูลง่ายขึ้น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ผู้บริหาร: เห็นภาพรวมงานและแนวโน้มได้ทันเวลา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914400" y="490118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234440" y="5074920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Key message: HOP ช่วยให้ข้อมูลพร้อมใช้ งานเร็วขึ้น และตรวจสอบได้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Risk &amp; Mitigation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ความเสี่ยงหลักและแนวทางลดผลกระทบ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ris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25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14400" y="1783080"/>
            <a:ext cx="1005840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การยอมรับของผู้ใช้งาน: ใช้คู่มือและอบรมแบบสั้น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ข้อมูลตั้งต้นไม่ครบ: ตรวจสอบ user, role, department และ leave balance ก่อน pilot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การเชื่อมต่อ LINE: มี fallback เป็น notification ในระบบ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ความต่อเนื่องของระบบ: มี backup/restore และ deployment checklist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914400" y="490118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234440" y="5074920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แนวทางหลัก: Pilot ก่อน ขยายเมื่อ workflow และข้อมูลตั้งต้นพร้อม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ROI &amp; Resource Consideration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มูลค่าที่ได้รับจากการลดงานซ้ำและเพิ่มความโปร่งใสของข้อมูล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roi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26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14400" y="1783080"/>
            <a:ext cx="1005840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ลดเวลาการค้นหาเอกสารและติดตามสถานะ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ลดต้นทุนกระดาษและการจัดเก็บเอกสาร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ลดความเสี่ยงจากการอนุมัติผิดขั้นหรือข้อมูลตกหล่น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 server และ open technology ที่ดูแลต่อได้ภายในองค์กร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914400" y="490118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234440" y="5074920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Key message: HOP ช่วยให้ข้อมูลพร้อมใช้ งานเร็วขึ้น และตรวจสอบได้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Future Development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ต่อยอดสู่ระบบข้อมูลและบริการดิจิทัลของโรงพยาบาล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ai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27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14400" y="1783080"/>
            <a:ext cx="1005840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HOSxP Report Integration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AI Assistant สำหรับค้นหาข้อมูลและสรุปรายงาน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Data Analytics สำหรับแนวโน้มบุคลากรและทรัพยากร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Mobile-first experience สำหรับการใช้งานนอกโต๊ะทำงาน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914400" y="490118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234440" y="5074920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Key message: HOP ช่วยให้ข้อมูลพร้อมใช้ งานเร็วขึ้น และตรวจสอบได้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HOP คือก้าวสำคัญสู่การบริหารงานภายในแบบ Digital Hospital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chec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28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14400" y="1783080"/>
            <a:ext cx="1005840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เริ่มจากงานที่ใช้จริงและเห็นผลเร็ว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ลดภาระเอกสารและเพิ่มความโปร่งใสของ workflow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สร้างฐานข้อมูลกลางที่รองรับการตัดสินใจของผู้บริหาร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พร้อมต่อยอดสู่โมดูลอื่นในปีงบประมาณ 2570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914400" y="490118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234440" y="5074920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Key message: HOP ช่วยให้ข้อมูลพร้อมใช้ งานเร็วขึ้น และตรวจสอบได้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Q&amp;A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เปิดรับข้อเสนอแนะเพื่อปรับระบบให้เหมาะกับบริบทโรงพยาบาลนาหมื่น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q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29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874520" y="1874520"/>
            <a:ext cx="845820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286000" y="2331720"/>
            <a:ext cx="7635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Q&amp;A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2423160" y="3063240"/>
            <a:ext cx="7360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ข้อเสนอแนะด้าน workflow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ข้อเสนอแนะด้านสิทธิ์และข้อมูลบุคลากร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ข้อเสนอแนะด้านการ rollout และการอบรมผู้ใช้งาน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-411480"/>
            <a:ext cx="3383280" cy="3383280"/>
          </a:xfrm>
          <a:prstGeom prst="arc">
            <a:avLst/>
          </a:prstGeom>
          <a:solidFill>
            <a:srgbClr val="CCFBF1">
              <a:alpha val="74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-822960" y="5166360"/>
            <a:ext cx="2926080" cy="2926080"/>
          </a:xfrm>
          <a:prstGeom prst="arc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754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(HOP)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243584"/>
            <a:ext cx="123444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pic>
        <p:nvPicPr>
          <p:cNvPr id="8" name="Image 0" descr="D:\HOSPITAL\Hospital-Projects\Hospital-Operations-Portal\docs\presentation\assets\icons\thank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1632" y="384048"/>
            <a:ext cx="530352" cy="5303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DDE7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483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Hospital Operations Portal | โรงพยาบาลนาหมื่น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83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30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874520" y="1874520"/>
            <a:ext cx="845820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286000" y="2331720"/>
            <a:ext cx="7635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2423160" y="3063240"/>
            <a:ext cx="7360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โรงพยาบาลนาหมื่น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Information Technology Department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ขอบคุณครับ / ค่ะ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H Sarabun Ne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H Sarabun Ne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Nan Muen Hospital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Operations Portal Executive Presentation</dc:title>
  <dc:subject>HOP Executive Presentation</dc:subject>
  <dc:creator>Hospital Operations Portal</dc:creator>
  <cp:lastModifiedBy>Hospital Operations Portal</cp:lastModifiedBy>
  <cp:revision>1</cp:revision>
  <dcterms:created xsi:type="dcterms:W3CDTF">2026-07-02T03:20:00Z</dcterms:created>
  <dcterms:modified xsi:type="dcterms:W3CDTF">2026-07-02T03:20:00Z</dcterms:modified>
</cp:coreProperties>
</file>